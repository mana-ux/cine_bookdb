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C9A24B">
              <a:alpha val="25000"/>
            </a:srgbClr>
          </a:solidFill>
          <a:ln w="12700">
            <a:solidFill>
              <a:srgbClr val="C9A24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8B95B5">
              <a:alpha val="20000"/>
            </a:srgbClr>
          </a:solidFill>
          <a:ln w="12700">
            <a:solidFill>
              <a:srgbClr val="8B95B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822960" cy="164592"/>
          </a:xfrm>
          <a:prstGeom prst="roundRect">
            <a:avLst>
              <a:gd name="adj" fmla="val 27778"/>
            </a:avLst>
          </a:prstGeom>
          <a:solidFill>
            <a:srgbClr val="C9A24B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274320"/>
            <a:ext cx="822960" cy="164592"/>
          </a:xfrm>
          <a:prstGeom prst="roundRect">
            <a:avLst>
              <a:gd name="adj" fmla="val 27778"/>
            </a:avLst>
          </a:prstGeom>
          <a:solidFill>
            <a:srgbClr val="C9A24B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274320"/>
            <a:ext cx="822960" cy="164592"/>
          </a:xfrm>
          <a:prstGeom prst="roundRect">
            <a:avLst>
              <a:gd name="adj" fmla="val 27778"/>
            </a:avLst>
          </a:prstGeom>
          <a:solidFill>
            <a:srgbClr val="C9A24B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274320"/>
            <a:ext cx="822960" cy="164592"/>
          </a:xfrm>
          <a:prstGeom prst="roundRect">
            <a:avLst>
              <a:gd name="adj" fmla="val 27778"/>
            </a:avLst>
          </a:prstGeom>
          <a:solidFill>
            <a:srgbClr val="C9A24B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274320"/>
            <a:ext cx="822960" cy="164592"/>
          </a:xfrm>
          <a:prstGeom prst="roundRect">
            <a:avLst>
              <a:gd name="adj" fmla="val 27778"/>
            </a:avLst>
          </a:prstGeom>
          <a:solidFill>
            <a:srgbClr val="C9A24B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274320"/>
            <a:ext cx="822960" cy="164592"/>
          </a:xfrm>
          <a:prstGeom prst="roundRect">
            <a:avLst>
              <a:gd name="adj" fmla="val 27778"/>
            </a:avLst>
          </a:prstGeom>
          <a:solidFill>
            <a:srgbClr val="C9A24B">
              <a:alpha val="5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CINEBOOKDB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Ticket Booking System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743200" y="2148840"/>
            <a:ext cx="365760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Project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52038"/>
          </a:solidFill>
          <a:ln w="12700">
            <a:solidFill>
              <a:srgbClr val="5B8AB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44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Querycraft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88036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52038"/>
          </a:solidFill>
          <a:ln w="12700">
            <a:solidFill>
              <a:srgbClr val="5B8AB8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944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14600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288036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52038"/>
          </a:solidFill>
          <a:ln w="12700">
            <a:solidFill>
              <a:srgbClr val="5B8AB8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944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Karuna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29400" y="288036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52038"/>
          </a:solidFill>
          <a:ln w="12700">
            <a:solidFill>
              <a:srgbClr val="5B8AB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944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629400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June 2026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ICST University Park  |  HDIT Faculty of Computing and Technology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17556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&amp; User Types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8716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25054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6382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3697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32552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Relational Schema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136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86784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40050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(UNF → 3NF)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9144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98755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30368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Implementation &amp; Queries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6642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73736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30368" y="17556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Security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241401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48716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30368" y="25054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Challenges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16382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23697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30368" y="32552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5153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20040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CineBookDB is a relational database application to automate cinema ticket reservations, seat management, and payments.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DBMS Concepts Demonstrated: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606040"/>
            <a:ext cx="137160" cy="137160"/>
          </a:xfrm>
          <a:prstGeom prst="ellipse">
            <a:avLst/>
          </a:prstGeom>
          <a:solidFill>
            <a:srgbClr val="8B95B5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786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Modelling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017520"/>
            <a:ext cx="137160" cy="137160"/>
          </a:xfrm>
          <a:prstGeom prst="ellipse">
            <a:avLst/>
          </a:prstGeom>
          <a:solidFill>
            <a:srgbClr val="8B95B5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900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Design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429000"/>
            <a:ext cx="137160" cy="137160"/>
          </a:xfrm>
          <a:prstGeom prst="ellipse">
            <a:avLst/>
          </a:prstGeom>
          <a:solidFill>
            <a:srgbClr val="8B95B5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015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(UNF → 3NF)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137160" cy="137160"/>
          </a:xfrm>
          <a:prstGeom prst="ellipse">
            <a:avLst/>
          </a:prstGeom>
          <a:solidFill>
            <a:srgbClr val="8B95B5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130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Implementation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51960"/>
            <a:ext cx="137160" cy="137160"/>
          </a:xfrm>
          <a:prstGeom prst="ellipse">
            <a:avLst/>
          </a:prstGeom>
          <a:solidFill>
            <a:srgbClr val="8B95B5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24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Security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274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14800" y="777240"/>
            <a:ext cx="4754880" cy="36576"/>
          </a:xfrm>
          <a:prstGeom prst="rect">
            <a:avLst/>
          </a:prstGeom>
          <a:solidFill>
            <a:srgbClr val="8B95B5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00584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152038"/>
          </a:solidFill>
          <a:ln w="12700">
            <a:solidFill>
              <a:srgbClr val="C9A24B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89120" y="120700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double-bookings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0" y="192024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152038"/>
          </a:solidFill>
          <a:ln w="12700">
            <a:solidFill>
              <a:srgbClr val="8B95B5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89120" y="212140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/ fragmented customer records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0" y="283464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152038"/>
          </a:solidFill>
          <a:ln w="12700">
            <a:solidFill>
              <a:srgbClr val="5B8AB8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89120" y="303580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queues, slow manual counter service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0" y="374904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152038"/>
          </a:solidFill>
          <a:ln w="12700">
            <a:solidFill>
              <a:srgbClr val="E3C988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89120" y="395020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Inability to generate timely sales reports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14800" y="4663440"/>
            <a:ext cx="4663440" cy="320040"/>
          </a:xfrm>
          <a:prstGeom prst="roundRect">
            <a:avLst>
              <a:gd name="adj" fmla="val 22857"/>
            </a:avLst>
          </a:prstGeom>
          <a:solidFill>
            <a:srgbClr val="C9A24B">
              <a:alpha val="80000"/>
            </a:srgbClr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4663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CineBookDB solves all of the above with a normalised relational DB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152038"/>
          </a:solidFill>
          <a:ln w="12700">
            <a:solidFill>
              <a:srgbClr val="5B8AB8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13990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152038"/>
          </a:solidFill>
          <a:ln w="12700">
            <a:solidFill>
              <a:srgbClr val="5B8AB8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20848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Management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152038"/>
          </a:solidFill>
          <a:ln w="12700">
            <a:solidFill>
              <a:srgbClr val="5B8AB8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27706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Scheduling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152038"/>
          </a:solidFill>
          <a:ln w="12700">
            <a:solidFill>
              <a:srgbClr val="5B8AB8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" y="34564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Management (Standard / VIP / IMAX)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152038"/>
          </a:solidFill>
          <a:ln w="12700">
            <a:solidFill>
              <a:srgbClr val="5B8AB8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60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" y="41422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Booking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2801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152038"/>
          </a:solidFill>
          <a:ln w="12700">
            <a:solidFill>
              <a:srgbClr val="5B8AB8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417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49240" y="13990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Reservation (prevent double-booking)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19659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152038"/>
          </a:solidFill>
          <a:ln w="12700">
            <a:solidFill>
              <a:srgbClr val="5B8AB8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1031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49240" y="20848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6517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152038"/>
          </a:solidFill>
          <a:ln w="12700">
            <a:solidFill>
              <a:srgbClr val="5B8AB8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788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49240" y="27706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Cancellation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33375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152038"/>
          </a:solidFill>
          <a:ln w="12700">
            <a:solidFill>
              <a:srgbClr val="5B8AB8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474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49240" y="34564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402336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152038"/>
          </a:solidFill>
          <a:ln w="12700">
            <a:solidFill>
              <a:srgbClr val="5B8AB8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4160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9240" y="41422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&amp; NON-FUNCTIONAL REQUIREMENTS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152038"/>
          </a:solidFill>
          <a:ln w="12700">
            <a:solidFill>
              <a:srgbClr val="5B8AB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81328"/>
            <a:ext cx="347472" cy="347472"/>
          </a:xfrm>
          <a:prstGeom prst="ellipse">
            <a:avLst/>
          </a:prstGeom>
          <a:solidFill>
            <a:srgbClr val="5B8AB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81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533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Administrator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tables, manage users, backups, optimise queries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152038"/>
          </a:solidFill>
          <a:ln w="12700">
            <a:solidFill>
              <a:srgbClr val="8B95B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377440"/>
            <a:ext cx="347472" cy="347472"/>
          </a:xfrm>
          <a:prstGeom prst="ellipse">
            <a:avLst/>
          </a:prstGeom>
          <a:solidFill>
            <a:srgbClr val="8B95B5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77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2494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Manager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5420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shows, manage movies, generate sales reports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152038"/>
          </a:solidFill>
          <a:ln w="12700">
            <a:solidFill>
              <a:srgbClr val="C9A24B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273552"/>
            <a:ext cx="347472" cy="347472"/>
          </a:xfrm>
          <a:prstGeom prst="ellipse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73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1455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Office Staff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4381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customers, process bookings &amp; cancellations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968496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152038"/>
          </a:solidFill>
          <a:ln w="12700">
            <a:solidFill>
              <a:srgbClr val="E3C98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169664"/>
            <a:ext cx="347472" cy="347472"/>
          </a:xfrm>
          <a:prstGeom prst="ellipse">
            <a:avLst/>
          </a:prstGeom>
          <a:solidFill>
            <a:srgbClr val="E3C98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696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0416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3342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details, select shows, confirm bookings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663440" y="128016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B2740"/>
          </a:solidFill>
          <a:ln w="12700">
            <a:solidFill>
              <a:srgbClr val="5B8AB8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3350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15361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constraints ensure relational consistency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901952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B2740"/>
          </a:solidFill>
          <a:ln w="12700">
            <a:solidFill>
              <a:srgbClr val="C9A24B">
                <a:alpha val="3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95681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21579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&amp; input validation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523744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B2740"/>
          </a:solidFill>
          <a:ln w="12700">
            <a:solidFill>
              <a:srgbClr val="8B95B5">
                <a:alpha val="3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5786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27797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key columns for fast queries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145536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B2740"/>
          </a:solidFill>
          <a:ln w="12700">
            <a:solidFill>
              <a:srgbClr val="E3C988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C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34015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XAMPP/MySQL environment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767328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B2740"/>
          </a:solidFill>
          <a:ln w="12700">
            <a:solidFill>
              <a:srgbClr val="5B8AB8">
                <a:alpha val="3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8221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40233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schema minimises redundancy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438912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B2740"/>
          </a:solidFill>
          <a:ln w="12700">
            <a:solidFill>
              <a:srgbClr val="8B95B5">
                <a:alpha val="3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44398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0600" y="46451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new screens/movies without schema changes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91440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152038"/>
          </a:solidFill>
          <a:ln w="12700">
            <a:solidFill>
              <a:srgbClr val="5B8AB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914400"/>
            <a:ext cx="201168" cy="914400"/>
          </a:xfrm>
          <a:prstGeom prst="rect">
            <a:avLst/>
          </a:prstGeom>
          <a:solidFill>
            <a:srgbClr val="5B8AB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164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 GUI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1847088"/>
            <a:ext cx="45720" cy="228600"/>
          </a:xfrm>
          <a:prstGeom prst="rect">
            <a:avLst/>
          </a:prstGeom>
          <a:solidFill>
            <a:srgbClr val="A8B2CC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10312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152038"/>
          </a:solidFill>
          <a:ln w="12700">
            <a:solidFill>
              <a:srgbClr val="8B95B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0" y="2103120"/>
            <a:ext cx="201168" cy="914400"/>
          </a:xfrm>
          <a:prstGeom prst="rect">
            <a:avLst/>
          </a:prstGeom>
          <a:solidFill>
            <a:srgbClr val="8B95B5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240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578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&amp; Rules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3035808"/>
            <a:ext cx="45720" cy="228600"/>
          </a:xfrm>
          <a:prstGeom prst="rect">
            <a:avLst/>
          </a:prstGeom>
          <a:solidFill>
            <a:srgbClr val="A8B2CC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329184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152038"/>
          </a:solidFill>
          <a:ln w="12700">
            <a:solidFill>
              <a:srgbClr val="C9A24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0" y="3291840"/>
            <a:ext cx="201168" cy="914400"/>
          </a:xfrm>
          <a:prstGeom prst="rect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3429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3767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on XAMPP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868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Methodology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23444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52038"/>
          </a:solidFill>
          <a:ln w="12700">
            <a:solidFill>
              <a:srgbClr val="8B95B5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13716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Requirement Gathering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185623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52038"/>
          </a:solidFill>
          <a:ln w="12700">
            <a:solidFill>
              <a:srgbClr val="5B8AB8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19933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ER Diagram Construction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2478024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52038"/>
          </a:solidFill>
          <a:ln w="12700">
            <a:solidFill>
              <a:srgbClr val="8B95B5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26151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Relational Schema Conversion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3099816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52038"/>
          </a:solidFill>
          <a:ln w="12700">
            <a:solidFill>
              <a:srgbClr val="5B8AB8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32369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Normalization to 3NF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3721608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52038"/>
          </a:solidFill>
          <a:ln w="12700">
            <a:solidFill>
              <a:srgbClr val="8B95B5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38587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MySQL Implementation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0" y="434340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52038"/>
          </a:solidFill>
          <a:ln w="12700">
            <a:solidFill>
              <a:srgbClr val="5B8AB8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44805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Testing &amp; Validation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XAMPP 8.2 · MySQL 8.0 · phpMyAdmin 5.x · MySQL Workbench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ENTITIES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ER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67" y="868680"/>
            <a:ext cx="7577666" cy="40919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RELATIONAL SCHEMA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152038"/>
          </a:solidFill>
          <a:ln w="12700">
            <a:solidFill>
              <a:srgbClr val="5B8AB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Booking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819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 |  A customer makes multiple bookings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152038"/>
          </a:solidFill>
          <a:ln w="12700">
            <a:solidFill>
              <a:srgbClr val="8B95B5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391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→ Show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951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Many-to-One  |  Multiple bookings for one show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06624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152038"/>
          </a:solidFill>
          <a:ln w="12700">
            <a:solidFill>
              <a:srgbClr val="C9A24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523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→ Show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00837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 |  A movie has many show schedules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19856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152038"/>
          </a:solidFill>
          <a:ln w="12700">
            <a:solidFill>
              <a:srgbClr val="E3C98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6557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↔ Seat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7216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 |  Via BookingSeat junction table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133088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152038"/>
          </a:solidFill>
          <a:ln w="12700">
            <a:solidFill>
              <a:srgbClr val="5B8AB8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788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→ Payment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434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 |  Each booking has one payment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Notation (3NF)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280160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15203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33502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Customer(CustomerID [PK], FirstName, LastName, Email, Phone, Address, RegisterDate)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1828800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1B274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88366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Movie(MovieID [PK], Title, Genre, Duration, Rating, Language, ReleaseDate, Director)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377440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15203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4323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Show(ShowID [PK], MovieID [FK], ScreenID [FK], ShowDate, ShowTime, TicketPrice)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926080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1B274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98094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Seat(SeatID [PK], ScreenID [FK], SeatNumber, Row, Category, Price)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3474720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15203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52958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Booking(BookingID [PK], CustomerID [FK], ShowID [FK], BookingDate, TotalSeats, Status)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4023360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1B274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07822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BookingSeat(BookingSeatID [PK], BookingID [FK], SeatID [FK], ReservationStatus)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4572000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15203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62686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Payment(PaymentID [PK], BookingID [FK], Amount, Method, Status, PaymentDate)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PROCESS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1737360"/>
            <a:ext cx="137160" cy="365760"/>
          </a:xfrm>
          <a:prstGeom prst="rect">
            <a:avLst/>
          </a:prstGeom>
          <a:solidFill>
            <a:srgbClr val="A8B2CC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34840" y="1737360"/>
            <a:ext cx="137160" cy="365760"/>
          </a:xfrm>
          <a:prstGeom prst="rect">
            <a:avLst/>
          </a:prstGeom>
          <a:solidFill>
            <a:srgbClr val="A8B2CC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737360"/>
            <a:ext cx="137160" cy="365760"/>
          </a:xfrm>
          <a:prstGeom prst="rect">
            <a:avLst/>
          </a:prstGeom>
          <a:solidFill>
            <a:srgbClr val="A8B2CC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152038"/>
          </a:solidFill>
          <a:ln w="12700">
            <a:solidFill>
              <a:srgbClr val="C9A24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C9A24B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6926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1408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Unnormalized Form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single table with repeating seat groups (A1, A2, A3 in same row). No primary key defined. Mixed data with no structure.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23160" y="91440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152038"/>
          </a:solidFill>
          <a:ln w="12700">
            <a:solidFill>
              <a:srgbClr val="8B95B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91440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8B95B5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96926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23160" y="1408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Normal Form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14600" y="18745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seat columns removed. Each seat gets its own row. BookingID set as Primary Key. All attributes atomic.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91440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152038"/>
          </a:solidFill>
          <a:ln w="12700">
            <a:solidFill>
              <a:srgbClr val="5B8AB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91440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5B8AB8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96926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0" y="1408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Normal 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18745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dependencies removed. Customer &amp; Movie data moved to own tables. CustomerID/MovieID become Foreign Keys.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20840" y="914400"/>
            <a:ext cx="2148840" cy="3840480"/>
          </a:xfrm>
          <a:prstGeom prst="roundRect">
            <a:avLst>
              <a:gd name="adj" fmla="val 5106"/>
            </a:avLst>
          </a:prstGeom>
          <a:solidFill>
            <a:srgbClr val="152038"/>
          </a:solidFill>
          <a:ln w="12700">
            <a:solidFill>
              <a:srgbClr val="E3C98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914400"/>
            <a:ext cx="2148840" cy="822960"/>
          </a:xfrm>
          <a:prstGeom prst="roundRect">
            <a:avLst>
              <a:gd name="adj" fmla="val 13333"/>
            </a:avLst>
          </a:prstGeom>
          <a:solidFill>
            <a:srgbClr val="E3C988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9692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20840" y="140817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12280" y="1874520"/>
            <a:ext cx="1965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dependencies removed. Screen table created. All non-key attributes depend only on their primary key.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800600"/>
            <a:ext cx="8595360" cy="256032"/>
          </a:xfrm>
          <a:prstGeom prst="roundRect">
            <a:avLst>
              <a:gd name="adj" fmla="val 21429"/>
            </a:avLst>
          </a:prstGeom>
          <a:solidFill>
            <a:srgbClr val="E3C988">
              <a:alpha val="80000"/>
            </a:srgbClr>
          </a:solidFill>
          <a:ln w="12700">
            <a:solidFill>
              <a:srgbClr val="E3C9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C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Result: 8 fully normalised 3NF tables — Customer, Movie, Screen, Show, Seat, Booking, BookingSeat, Payment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IMPLEMENTATION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14800" cy="676656"/>
          </a:xfrm>
          <a:prstGeom prst="roundRect">
            <a:avLst>
              <a:gd name="adj" fmla="val 13514"/>
            </a:avLst>
          </a:prstGeom>
          <a:solidFill>
            <a:srgbClr val="152038"/>
          </a:solidFill>
          <a:ln w="12700">
            <a:solidFill>
              <a:srgbClr val="5B8AB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1097280" cy="676656"/>
          </a:xfrm>
          <a:prstGeom prst="roundRect">
            <a:avLst>
              <a:gd name="adj" fmla="val 13514"/>
            </a:avLst>
          </a:prstGeom>
          <a:solidFill>
            <a:srgbClr val="5B8AB8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10972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movie listings, customer records, booking details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676656"/>
          </a:xfrm>
          <a:prstGeom prst="roundRect">
            <a:avLst>
              <a:gd name="adj" fmla="val 13514"/>
            </a:avLst>
          </a:prstGeom>
          <a:solidFill>
            <a:srgbClr val="152038"/>
          </a:solidFill>
          <a:ln w="12700">
            <a:solidFill>
              <a:srgbClr val="8B95B5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1097280" cy="676656"/>
          </a:xfrm>
          <a:prstGeom prst="roundRect">
            <a:avLst>
              <a:gd name="adj" fmla="val 13514"/>
            </a:avLst>
          </a:prstGeom>
          <a:solidFill>
            <a:srgbClr val="8B95B5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115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09728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customers, movies, shows, bookings, payments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19072"/>
            <a:ext cx="4114800" cy="676656"/>
          </a:xfrm>
          <a:prstGeom prst="roundRect">
            <a:avLst>
              <a:gd name="adj" fmla="val 13514"/>
            </a:avLst>
          </a:prstGeom>
          <a:solidFill>
            <a:srgbClr val="152038"/>
          </a:solidFill>
          <a:ln w="12700">
            <a:solidFill>
              <a:srgbClr val="C9A24B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719072"/>
            <a:ext cx="1097280" cy="676656"/>
          </a:xfrm>
          <a:prstGeom prst="roundRect">
            <a:avLst>
              <a:gd name="adj" fmla="val 13514"/>
            </a:avLst>
          </a:prstGeom>
          <a:solidFill>
            <a:srgbClr val="C9A24B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0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190195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booking status, customer info, show schedules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719072"/>
            <a:ext cx="4114800" cy="676656"/>
          </a:xfrm>
          <a:prstGeom prst="roundRect">
            <a:avLst>
              <a:gd name="adj" fmla="val 13514"/>
            </a:avLst>
          </a:prstGeom>
          <a:solidFill>
            <a:srgbClr val="152038"/>
          </a:solidFill>
          <a:ln w="12700">
            <a:solidFill>
              <a:srgbClr val="E3C988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719072"/>
            <a:ext cx="1097280" cy="676656"/>
          </a:xfrm>
          <a:prstGeom prst="roundRect">
            <a:avLst>
              <a:gd name="adj" fmla="val 13514"/>
            </a:avLst>
          </a:prstGeom>
          <a:solidFill>
            <a:srgbClr val="E3C988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920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190195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cancelled bookings, obsolete shows, test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523744"/>
            <a:ext cx="4114800" cy="676656"/>
          </a:xfrm>
          <a:prstGeom prst="roundRect">
            <a:avLst>
              <a:gd name="adj" fmla="val 13514"/>
            </a:avLst>
          </a:prstGeom>
          <a:solidFill>
            <a:srgbClr val="152038"/>
          </a:solidFill>
          <a:ln w="12700">
            <a:solidFill>
              <a:srgbClr val="5B8AB8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523744"/>
            <a:ext cx="1097280" cy="676656"/>
          </a:xfrm>
          <a:prstGeom prst="roundRect">
            <a:avLst>
              <a:gd name="adj" fmla="val 13514"/>
            </a:avLst>
          </a:prstGeom>
          <a:solidFill>
            <a:srgbClr val="5B8AB8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249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54480" y="27066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complete booking details across multiple tables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523744"/>
            <a:ext cx="4114800" cy="676656"/>
          </a:xfrm>
          <a:prstGeom prst="roundRect">
            <a:avLst>
              <a:gd name="adj" fmla="val 13514"/>
            </a:avLst>
          </a:prstGeom>
          <a:solidFill>
            <a:srgbClr val="152038"/>
          </a:solidFill>
          <a:ln w="12700">
            <a:solidFill>
              <a:srgbClr val="8B95B5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523744"/>
            <a:ext cx="1097280" cy="676656"/>
          </a:xfrm>
          <a:prstGeom prst="roundRect">
            <a:avLst>
              <a:gd name="adj" fmla="val 13514"/>
            </a:avLst>
          </a:prstGeom>
          <a:solidFill>
            <a:srgbClr val="8B95B5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7249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7066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customers, including those with no bookings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328416"/>
            <a:ext cx="4114800" cy="676656"/>
          </a:xfrm>
          <a:prstGeom prst="roundRect">
            <a:avLst>
              <a:gd name="adj" fmla="val 13514"/>
            </a:avLst>
          </a:prstGeom>
          <a:solidFill>
            <a:srgbClr val="152038"/>
          </a:solidFill>
          <a:ln w="12700">
            <a:solidFill>
              <a:srgbClr val="C9A24B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328416"/>
            <a:ext cx="1097280" cy="676656"/>
          </a:xfrm>
          <a:prstGeom prst="roundRect">
            <a:avLst>
              <a:gd name="adj" fmla="val 13514"/>
            </a:avLst>
          </a:prstGeom>
          <a:solidFill>
            <a:srgbClr val="C9A24B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295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54480" y="351129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movie, revenue by show date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328416"/>
            <a:ext cx="4114800" cy="676656"/>
          </a:xfrm>
          <a:prstGeom prst="roundRect">
            <a:avLst>
              <a:gd name="adj" fmla="val 13514"/>
            </a:avLst>
          </a:prstGeom>
          <a:solidFill>
            <a:srgbClr val="152038"/>
          </a:solidFill>
          <a:ln w="12700">
            <a:solidFill>
              <a:srgbClr val="E3C988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328416"/>
            <a:ext cx="1097280" cy="676656"/>
          </a:xfrm>
          <a:prstGeom prst="roundRect">
            <a:avLst>
              <a:gd name="adj" fmla="val 13514"/>
            </a:avLst>
          </a:prstGeom>
          <a:solidFill>
            <a:srgbClr val="E3C988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5295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351129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customers alphabetically, bookings by date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133088"/>
            <a:ext cx="4114800" cy="676656"/>
          </a:xfrm>
          <a:prstGeom prst="roundRect">
            <a:avLst>
              <a:gd name="adj" fmla="val 13514"/>
            </a:avLst>
          </a:prstGeom>
          <a:solidFill>
            <a:srgbClr val="152038"/>
          </a:solidFill>
          <a:ln w="12700">
            <a:solidFill>
              <a:srgbClr val="5B8AB8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33088"/>
            <a:ext cx="1097280" cy="676656"/>
          </a:xfrm>
          <a:prstGeom prst="roundRect">
            <a:avLst>
              <a:gd name="adj" fmla="val 13514"/>
            </a:avLst>
          </a:prstGeom>
          <a:solidFill>
            <a:srgbClr val="5B8AB8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3342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554480" y="431596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AVG, MAX, MIN — KPIs for management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4133088"/>
            <a:ext cx="4114800" cy="676656"/>
          </a:xfrm>
          <a:prstGeom prst="roundRect">
            <a:avLst>
              <a:gd name="adj" fmla="val 13514"/>
            </a:avLst>
          </a:prstGeom>
          <a:solidFill>
            <a:srgbClr val="152038"/>
          </a:solidFill>
          <a:ln w="12700">
            <a:solidFill>
              <a:srgbClr val="8B95B5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4133088"/>
            <a:ext cx="1097280" cy="676656"/>
          </a:xfrm>
          <a:prstGeom prst="roundRect">
            <a:avLst>
              <a:gd name="adj" fmla="val 13514"/>
            </a:avLst>
          </a:prstGeom>
          <a:solidFill>
            <a:srgbClr val="8B95B5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3342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431596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highest-booking customer, above-average shows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152038"/>
          </a:solidFill>
          <a:ln w="12700">
            <a:solidFill>
              <a:srgbClr val="5B8AB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87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91440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152038"/>
          </a:solidFill>
          <a:ln w="12700">
            <a:solidFill>
              <a:srgbClr val="5B8AB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987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14600" y="15087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152038"/>
          </a:solidFill>
          <a:ln w="12700">
            <a:solidFill>
              <a:srgbClr val="C9A24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87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63440" y="15087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91440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152038"/>
          </a:solidFill>
          <a:ln w="12700">
            <a:solidFill>
              <a:srgbClr val="E3C98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987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3C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12280" y="15087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011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Test Cases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731520" cy="274320"/>
          </a:xfrm>
          <a:prstGeom prst="rect">
            <a:avLst/>
          </a:prstGeom>
          <a:solidFill>
            <a:srgbClr val="C9A24B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0487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43000" y="2377440"/>
            <a:ext cx="3291840" cy="274320"/>
          </a:xfrm>
          <a:prstGeom prst="rect">
            <a:avLst/>
          </a:prstGeom>
          <a:solidFill>
            <a:srgbClr val="C9A24B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240487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2377440"/>
            <a:ext cx="914400" cy="274320"/>
          </a:xfrm>
          <a:prstGeom prst="rect">
            <a:avLst/>
          </a:prstGeom>
          <a:solidFill>
            <a:srgbClr val="C9A24B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40487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697480"/>
            <a:ext cx="8412480" cy="210312"/>
          </a:xfrm>
          <a:prstGeom prst="rect">
            <a:avLst/>
          </a:prstGeom>
          <a:solidFill>
            <a:srgbClr val="15203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72491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" y="2724912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valid customer record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34840" y="272491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926080"/>
            <a:ext cx="8412480" cy="210312"/>
          </a:xfrm>
          <a:prstGeom prst="rect">
            <a:avLst/>
          </a:prstGeom>
          <a:solidFill>
            <a:srgbClr val="1B274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5351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" y="2953512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duplicate email → UNIQUE error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34840" y="295351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154680"/>
            <a:ext cx="8412480" cy="210312"/>
          </a:xfrm>
          <a:prstGeom prst="rect">
            <a:avLst/>
          </a:prstGeom>
          <a:solidFill>
            <a:srgbClr val="15203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18211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" y="3182112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available seat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34840" y="318211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383280"/>
            <a:ext cx="8412480" cy="210312"/>
          </a:xfrm>
          <a:prstGeom prst="rect">
            <a:avLst/>
          </a:prstGeom>
          <a:solidFill>
            <a:srgbClr val="1B274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41071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" y="3410712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already reserved seat → constraint error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34840" y="341071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611880"/>
            <a:ext cx="8412480" cy="210312"/>
          </a:xfrm>
          <a:prstGeom prst="rect">
            <a:avLst/>
          </a:prstGeom>
          <a:solidFill>
            <a:srgbClr val="15203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63931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" y="3639312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total revenue (SUM aggregate)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434840" y="363931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3840480"/>
            <a:ext cx="8412480" cy="210312"/>
          </a:xfrm>
          <a:prstGeom prst="rect">
            <a:avLst/>
          </a:prstGeom>
          <a:solidFill>
            <a:srgbClr val="1B274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86791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" y="3867912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 booking → status updated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434840" y="386791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069080"/>
            <a:ext cx="8412480" cy="210312"/>
          </a:xfrm>
          <a:prstGeom prst="rect">
            <a:avLst/>
          </a:prstGeom>
          <a:solidFill>
            <a:srgbClr val="15203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09651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" y="4096512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— customers with no bookings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434840" y="409651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760" y="4297680"/>
            <a:ext cx="8412480" cy="210312"/>
          </a:xfrm>
          <a:prstGeom prst="rect">
            <a:avLst/>
          </a:prstGeom>
          <a:solidFill>
            <a:srgbClr val="1B274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32511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43000" y="4325112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revenue per movie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434840" y="432511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4526280"/>
            <a:ext cx="8412480" cy="210312"/>
          </a:xfrm>
          <a:prstGeom prst="rect">
            <a:avLst/>
          </a:prstGeom>
          <a:solidFill>
            <a:srgbClr val="152038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455371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43000" y="4553712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booking date descending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434840" y="455371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5760" y="4754880"/>
            <a:ext cx="8412480" cy="210312"/>
          </a:xfrm>
          <a:prstGeom prst="rect">
            <a:avLst/>
          </a:prstGeom>
          <a:solidFill>
            <a:srgbClr val="1B274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78231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TC-12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43000" y="4782312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— highest booking customer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434840" y="478231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52038"/>
          </a:solidFill>
          <a:ln w="12700">
            <a:solidFill>
              <a:srgbClr val="C9A24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Authentication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user accounts with credentials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52038"/>
          </a:solidFill>
          <a:ln w="12700">
            <a:solidFill>
              <a:srgbClr val="8B95B5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385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Authorisation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SELECT/INSERT/UPDATE/DELETE privileges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52038"/>
          </a:solidFill>
          <a:ln w="12700">
            <a:solidFill>
              <a:srgbClr val="5B8AB8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511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Input Validation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614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UNIQUE, CHECK constraints at schema level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18104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52038"/>
          </a:solidFill>
          <a:ln w="12700">
            <a:solidFill>
              <a:srgbClr val="E3C98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6382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C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Referential Integrity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3741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constraints with ON DELETE RESTRICT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30752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52038"/>
          </a:solidFill>
          <a:ln w="12700">
            <a:solidFill>
              <a:srgbClr val="C9A24B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7647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Data Backup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9867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.sql exports via phpMyAdmin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34340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52038"/>
          </a:solidFill>
          <a:ln w="12700">
            <a:solidFill>
              <a:srgbClr val="5B8AB8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3891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SQL Injection Prevention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5994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queries + strict validation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Optimisation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63440" y="128016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1B2740"/>
          </a:solidFill>
          <a:ln w="12700">
            <a:solidFill>
              <a:srgbClr val="5B8AB8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33502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Indexing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15819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CustomerID, ShowID, MovieID, BookingDate — faster JOIN &amp; search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01168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1B2740"/>
          </a:solidFill>
          <a:ln w="12700">
            <a:solidFill>
              <a:srgbClr val="8B95B5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06654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Query Optimisation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3134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specific columns instead of SELECT * — less memory usage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4320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1B2740"/>
          </a:solidFill>
          <a:ln w="12700">
            <a:solidFill>
              <a:srgbClr val="E3C988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79806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C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3NF Normalization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0449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update anomalies and reduces storage redundancy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47472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1B2740"/>
          </a:solidFill>
          <a:ln w="12700">
            <a:solidFill>
              <a:srgbClr val="C9A24B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52958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Redundancy Reduction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37764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Customer/movie data stored once, referenced via FK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4206240"/>
            <a:ext cx="4206240" cy="594360"/>
          </a:xfrm>
          <a:prstGeom prst="roundRect">
            <a:avLst>
              <a:gd name="adj" fmla="val 15385"/>
            </a:avLst>
          </a:prstGeom>
          <a:solidFill>
            <a:srgbClr val="1B2740"/>
          </a:solidFill>
          <a:ln w="12700">
            <a:solidFill>
              <a:srgbClr val="5B8AB8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426110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Data Types Review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45079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for IDs, optimised VARCHAR lengths, DATE/TIME correctly typed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152038"/>
          </a:solidFill>
          <a:ln w="12700">
            <a:solidFill>
              <a:srgbClr val="5B8AB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5B8AB8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966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Many-to-Many Relationship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Introduced BookingSeat junction table with two foreign keys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152038"/>
          </a:solidFill>
          <a:ln w="12700">
            <a:solidFill>
              <a:srgbClr val="C9A24B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C9A24B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966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Double Booking Prevention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3898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Added UNIQUE constraint on (ShowID, SeatID) in BookingSeat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152038"/>
          </a:solidFill>
          <a:ln w="12700">
            <a:solidFill>
              <a:srgbClr val="8B95B5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8B95B5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682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Normalization Complexity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Stepwise approach: UNF → 1NF → 2NF → 3NF with careful dependency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152038"/>
          </a:solidFill>
          <a:ln w="12700">
            <a:solidFill>
              <a:srgbClr val="E3C98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28600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E3C988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682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Foreign Key Errors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Populated parent tables first; used SET FOREIGN_KEY_CHECKS=0 during import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152038"/>
          </a:solidFill>
          <a:ln w="12700">
            <a:solidFill>
              <a:srgbClr val="5B8AB8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5760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5B8AB8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398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Query Performance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1330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Added indexes on all primary and foreign key columns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152038"/>
          </a:solidFill>
          <a:ln w="12700">
            <a:solidFill>
              <a:srgbClr val="8B95B5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5760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8B95B5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398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Booking Cancellation &amp; Seat Release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1330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Implemented status field in BookingSeat; UPDATE triggered alongside booking cancellation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C9A24B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5B8AB8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0" y="868680"/>
            <a:ext cx="3657600" cy="36576"/>
          </a:xfrm>
          <a:prstGeom prst="rect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1280160"/>
          </a:xfrm>
          <a:prstGeom prst="roundRect">
            <a:avLst>
              <a:gd name="adj" fmla="val 10714"/>
            </a:avLst>
          </a:prstGeom>
          <a:solidFill>
            <a:srgbClr val="152038"/>
          </a:solidFill>
          <a:ln w="12700">
            <a:solidFill>
              <a:srgbClr val="5B8AB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618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Tables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77393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normalised 3NF relational database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1280160"/>
          </a:xfrm>
          <a:prstGeom prst="roundRect">
            <a:avLst>
              <a:gd name="adj" fmla="val 10714"/>
            </a:avLst>
          </a:prstGeom>
          <a:solidFill>
            <a:srgbClr val="152038"/>
          </a:solidFill>
          <a:ln w="12700">
            <a:solidFill>
              <a:srgbClr val="8B95B5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618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Tests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0" y="177393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test cases with 83% pass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3931920" cy="1280160"/>
          </a:xfrm>
          <a:prstGeom prst="roundRect">
            <a:avLst>
              <a:gd name="adj" fmla="val 10714"/>
            </a:avLst>
          </a:prstGeom>
          <a:solidFill>
            <a:srgbClr val="152038"/>
          </a:solidFill>
          <a:ln w="12700">
            <a:solidFill>
              <a:srgbClr val="C9A24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7706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Query Types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" y="32826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UPDATE, DELETE, JOINs, GROUP BY, Subqueries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606040"/>
            <a:ext cx="3931920" cy="1280160"/>
          </a:xfrm>
          <a:prstGeom prst="roundRect">
            <a:avLst>
              <a:gd name="adj" fmla="val 10714"/>
            </a:avLst>
          </a:prstGeom>
          <a:solidFill>
            <a:srgbClr val="152038"/>
          </a:solidFill>
          <a:ln w="12700">
            <a:solidFill>
              <a:srgbClr val="E3C98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27706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C9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Security Features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029200" y="32826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roles, constraints, FK integrity, backup, SQL injection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Online payment gateway · Web front-end · Multi-branch support · Stored procedures &amp; triggers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457200"/>
            <a:ext cx="4572000" cy="4572000"/>
          </a:xfrm>
          <a:prstGeom prst="ellipse">
            <a:avLst/>
          </a:prstGeom>
          <a:solidFill>
            <a:srgbClr val="C9A24B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5B8AB8">
              <a:alpha val="1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5" name="Shape 3"/>
          <p:cNvSpPr/>
          <p:nvPr/>
        </p:nvSpPr>
        <p:spPr>
          <a:xfrm>
            <a:off x="3200400" y="2194560"/>
            <a:ext cx="2743200" cy="45720"/>
          </a:xfrm>
          <a:prstGeom prst="rect">
            <a:avLst/>
          </a:prstGeom>
          <a:solidFill>
            <a:srgbClr val="C9A24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CineBookDB — Cinema Ticket Booking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Querycraft  |  DBMS Project  |  Academic Year 2025/2026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ICST University Park  |  Supervised by Mr. Karuna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4297680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C9A24B">
              <a:alpha val="80000"/>
            </a:srgbClr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4297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CineBookDB - Cinema Ticket Booking System</dc:title>
  <dc:subject>PptxGenJS Presentation</dc:subject>
  <dc:creator>Querycraft</dc:creator>
  <cp:lastModifiedBy>Querycraft</cp:lastModifiedBy>
  <cp:revision>1</cp:revision>
  <dcterms:created xsi:type="dcterms:W3CDTF">2026-06-16T05:12:18Z</dcterms:created>
  <dcterms:modified xsi:type="dcterms:W3CDTF">2026-06-16T05:12:18Z</dcterms:modified>
</cp:coreProperties>
</file>